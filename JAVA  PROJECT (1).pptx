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7" r:id="rId2"/>
    <p:sldId id="258" r:id="rId3"/>
    <p:sldId id="260" r:id="rId4"/>
    <p:sldId id="274" r:id="rId5"/>
    <p:sldId id="273" r:id="rId6"/>
    <p:sldId id="264" r:id="rId7"/>
    <p:sldId id="266" r:id="rId8"/>
    <p:sldId id="267" r:id="rId9"/>
    <p:sldId id="268" r:id="rId10"/>
    <p:sldId id="269" r:id="rId11"/>
    <p:sldId id="271" r:id="rId12"/>
    <p:sldId id="27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07" dt="2026-10-15T14:36:06.091"/>
    <p1510:client id="{6B9EFF5E-9859-398F-0628-208643A9E74B}" v="77" dt="2026-10-16T03:40:12.085"/>
    <p1510:client id="{6FF64AF6-BD08-6A8B-0DCB-BF50008C0635}" v="303" dt="2026-10-15T15:59:56.0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107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F2BAA-3715-4003-8C30-5FB76292DDF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151CA-D26A-4404-B14B-0DEAE382C7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7206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F2BAA-3715-4003-8C30-5FB76292DDF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151CA-D26A-4404-B14B-0DEAE382C7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78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F2BAA-3715-4003-8C30-5FB76292DDF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151CA-D26A-4404-B14B-0DEAE382C7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1037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F2BAA-3715-4003-8C30-5FB76292DDF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151CA-D26A-4404-B14B-0DEAE382C7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895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F2BAA-3715-4003-8C30-5FB76292DDF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151CA-D26A-4404-B14B-0DEAE382C7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0915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F2BAA-3715-4003-8C30-5FB76292DDF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151CA-D26A-4404-B14B-0DEAE382C7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5355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F2BAA-3715-4003-8C30-5FB76292DDF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151CA-D26A-4404-B14B-0DEAE382C7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7904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F2BAA-3715-4003-8C30-5FB76292DDF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151CA-D26A-4404-B14B-0DEAE382C7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1726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F2BAA-3715-4003-8C30-5FB76292DDF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151CA-D26A-4404-B14B-0DEAE382C7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145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F2BAA-3715-4003-8C30-5FB76292DDF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151CA-D26A-4404-B14B-0DEAE382C7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0487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F2BAA-3715-4003-8C30-5FB76292DDF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151CA-D26A-4404-B14B-0DEAE382C795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563370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F2BAA-3715-4003-8C30-5FB76292DDF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151CA-D26A-4404-B14B-0DEAE382C7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4881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F2BAA-3715-4003-8C30-5FB76292DDF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151CA-D26A-4404-B14B-0DEAE382C795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035082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F2BAA-3715-4003-8C30-5FB76292DDF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151CA-D26A-4404-B14B-0DEAE382C7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89813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F2BAA-3715-4003-8C30-5FB76292DDF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151CA-D26A-4404-B14B-0DEAE382C7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57849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F2BAA-3715-4003-8C30-5FB76292DDF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151CA-D26A-4404-B14B-0DEAE382C7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452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CF2BAA-3715-4003-8C30-5FB76292DDF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B6151CA-D26A-4404-B14B-0DEAE382C7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5381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8DD78-9C87-E968-8AB0-FCACD0CA2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246" y="721659"/>
            <a:ext cx="8764756" cy="1589741"/>
          </a:xfrm>
        </p:spPr>
        <p:txBody>
          <a:bodyPr>
            <a:normAutofit/>
          </a:bodyPr>
          <a:lstStyle/>
          <a:p>
            <a:r>
              <a:rPr lang="en-US" sz="4000"/>
              <a:t>SUSTAINABILITY : HOUSEHOLD WATER -  USAGE AND BILLING MONITOR</a:t>
            </a:r>
            <a:endParaRPr lang="en-IN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8B868-0BE2-64CC-F9AC-EF90A6000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895600"/>
            <a:ext cx="8596668" cy="31457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600"/>
              <a:t>Presented by  :</a:t>
            </a:r>
            <a:endParaRPr lang="en-US"/>
          </a:p>
          <a:p>
            <a:pPr marL="0" indent="0">
              <a:buNone/>
            </a:pPr>
            <a:r>
              <a:rPr lang="en-US" sz="3600"/>
              <a:t>                </a:t>
            </a:r>
            <a:r>
              <a:rPr lang="en-US" sz="3600" err="1"/>
              <a:t>Ojashwitha</a:t>
            </a:r>
            <a:r>
              <a:rPr lang="en-US" sz="3600"/>
              <a:t> – 2620030192</a:t>
            </a:r>
          </a:p>
          <a:p>
            <a:pPr marL="0" indent="0">
              <a:buNone/>
            </a:pPr>
            <a:r>
              <a:rPr lang="en-US" sz="3600"/>
              <a:t>                Sravani – 2620030488</a:t>
            </a:r>
          </a:p>
          <a:p>
            <a:pPr marL="0" indent="0">
              <a:buNone/>
            </a:pPr>
            <a:r>
              <a:rPr lang="en-US" sz="3600"/>
              <a:t>         Yagna Priya - 2620090131</a:t>
            </a:r>
            <a:endParaRPr lang="en-IN" sz="3600"/>
          </a:p>
        </p:txBody>
      </p:sp>
    </p:spTree>
    <p:extLst>
      <p:ext uri="{BB962C8B-B14F-4D97-AF65-F5344CB8AC3E}">
        <p14:creationId xmlns:p14="http://schemas.microsoft.com/office/powerpoint/2010/main" val="362573723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90313-B3E0-BD9B-0A4B-12C53A02F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734" y="609600"/>
            <a:ext cx="3737268" cy="1320800"/>
          </a:xfrm>
        </p:spPr>
        <p:txBody>
          <a:bodyPr>
            <a:normAutofit/>
          </a:bodyPr>
          <a:lstStyle/>
          <a:p>
            <a:r>
              <a:rPr lang="en-US"/>
              <a:t>ABSTRACT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FEB07-F8AC-457B-690F-9E9866169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9563" y="2160589"/>
            <a:ext cx="5407625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0" i="0">
                <a:effectLst/>
                <a:latin typeface="Mona Sans VF"/>
              </a:rPr>
              <a:t>The Sustainability Household Usage and Building Monitor is a Java-based application designed to monitor household electricity, water, and waste usage. The system helps users understand their resource consumption and provides suggestions for reducing unnecessary wastage.</a:t>
            </a:r>
            <a:endParaRPr lang="en-IN" sz="2400"/>
          </a:p>
        </p:txBody>
      </p:sp>
      <p:pic>
        <p:nvPicPr>
          <p:cNvPr id="4" name="Picture 3" descr="This contains: water_management_app_to_stop_water_wastage">
            <a:extLst>
              <a:ext uri="{FF2B5EF4-FFF2-40B4-BE49-F238E27FC236}">
                <a16:creationId xmlns:a16="http://schemas.microsoft.com/office/drawing/2014/main" id="{E0E4EFE0-670A-4E19-8599-602D9DF34E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297" r="18192" b="-2"/>
          <a:stretch>
            <a:fillRect/>
          </a:stretch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16807368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6CD37-E261-B672-080C-BA0C151A5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746" y="609600"/>
            <a:ext cx="5298568" cy="1320800"/>
          </a:xfrm>
        </p:spPr>
        <p:txBody>
          <a:bodyPr anchor="ctr">
            <a:normAutofit/>
          </a:bodyPr>
          <a:lstStyle/>
          <a:p>
            <a:r>
              <a:rPr lang="en-IN" sz="400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CE04C-71A5-52C5-7B4C-214EEDF72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167" y="2160589"/>
            <a:ext cx="4983333" cy="4106643"/>
          </a:xfrm>
        </p:spPr>
        <p:txBody>
          <a:bodyPr vert="horz" lIns="91440" tIns="45720" rIns="91440" bIns="45720" rtlCol="0" anchor="t">
            <a:noAutofit/>
          </a:bodyPr>
          <a:lstStyle/>
          <a:p>
            <a:pPr lvl="0">
              <a:lnSpc>
                <a:spcPct val="90000"/>
              </a:lnSpc>
              <a:buFont typeface="Arial" charset="2"/>
              <a:buChar char="•"/>
            </a:pPr>
            <a:r>
              <a:rPr lang="en-IN" sz="2400"/>
              <a:t>Households may waste water without realizing it. </a:t>
            </a:r>
            <a:endParaRPr lang="en-US" sz="2400"/>
          </a:p>
          <a:p>
            <a:pPr lvl="0">
              <a:lnSpc>
                <a:spcPct val="90000"/>
              </a:lnSpc>
              <a:buFont typeface="Arial" charset="2"/>
              <a:buChar char="•"/>
            </a:pPr>
            <a:r>
              <a:rPr lang="en-IN" sz="2400"/>
              <a:t>Traditional water meters provide limited information. </a:t>
            </a:r>
          </a:p>
          <a:p>
            <a:pPr lvl="0">
              <a:lnSpc>
                <a:spcPct val="90000"/>
              </a:lnSpc>
              <a:buFont typeface="Arial" charset="2"/>
              <a:buChar char="•"/>
            </a:pPr>
            <a:r>
              <a:rPr lang="en-IN" sz="2400"/>
              <a:t>Users may not know their daily or monthly consumption. </a:t>
            </a:r>
          </a:p>
          <a:p>
            <a:pPr lvl="0">
              <a:lnSpc>
                <a:spcPct val="90000"/>
              </a:lnSpc>
              <a:buFont typeface="Arial" charset="2"/>
              <a:buChar char="•"/>
            </a:pPr>
            <a:r>
              <a:rPr lang="en-IN" sz="2400"/>
              <a:t>Unexpected high bills can be difficult to understand. </a:t>
            </a:r>
          </a:p>
          <a:p>
            <a:pPr lvl="0">
              <a:lnSpc>
                <a:spcPct val="90000"/>
              </a:lnSpc>
              <a:buFont typeface="Arial" charset="2"/>
              <a:buChar char="•"/>
            </a:pPr>
            <a:r>
              <a:rPr lang="en-IN" sz="2400"/>
              <a:t>A smart monitoring system can provide timely information and alerts.</a:t>
            </a:r>
          </a:p>
          <a:p>
            <a:pPr>
              <a:lnSpc>
                <a:spcPct val="90000"/>
              </a:lnSpc>
              <a:buFont typeface="Arial" charset="2"/>
              <a:buChar char="•"/>
            </a:pPr>
            <a:endParaRPr lang="en-IN"/>
          </a:p>
        </p:txBody>
      </p:sp>
      <p:pic>
        <p:nvPicPr>
          <p:cNvPr id="4" name="Picture 3" descr="This may contain: the info shows different types of household water use in various areas of the house, including shower, toilet and sink">
            <a:extLst>
              <a:ext uri="{FF2B5EF4-FFF2-40B4-BE49-F238E27FC236}">
                <a16:creationId xmlns:a16="http://schemas.microsoft.com/office/drawing/2014/main" id="{DA94761D-3E41-AEE0-A3DE-96353CF16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8615" y="1503388"/>
            <a:ext cx="4602747" cy="4534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423253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ory pin image">
            <a:extLst>
              <a:ext uri="{FF2B5EF4-FFF2-40B4-BE49-F238E27FC236}">
                <a16:creationId xmlns:a16="http://schemas.microsoft.com/office/drawing/2014/main" id="{E91E06FF-0D60-2924-0D87-0BAF43605F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678" b="5538"/>
          <a:stretch>
            <a:fillRect/>
          </a:stretch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8310E-916C-597C-2AAC-4D976685D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0" y="443246"/>
            <a:ext cx="5613956" cy="5598116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b="1"/>
              <a:t>1. Data Types and Variables</a:t>
            </a:r>
            <a:endParaRPr lang="en-US"/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/>
              <a:t>Store household water consumption in liters and water bill amounts.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/>
              <a:t>Store customer details and payment status.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400" b="1"/>
              <a:t>2. Operators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/>
              <a:t>Calculate water bills using water consumption and billing rates.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/>
              <a:t>Compare water usage with the limit to identify excessive consumption.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400" b="1"/>
              <a:t>3. Loops and Iterations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/>
              <a:t>Process water usage and calculate bills for multiple households.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/>
              <a:t>Repeat consumption checks to identify excessive water usage and encourage water conservation.</a:t>
            </a:r>
          </a:p>
          <a:p>
            <a:pPr>
              <a:lnSpc>
                <a:spcPct val="90000"/>
              </a:lnSpc>
            </a:pPr>
            <a:endParaRPr lang="en-IN" sz="130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34566445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414800-588E-9531-EFD0-B3D589A2A2AC}"/>
              </a:ext>
            </a:extLst>
          </p:cNvPr>
          <p:cNvSpPr txBox="1"/>
          <p:nvPr/>
        </p:nvSpPr>
        <p:spPr>
          <a:xfrm>
            <a:off x="557284" y="892791"/>
            <a:ext cx="9701282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IN" sz="2400" b="1">
                <a:latin typeface="Trebuchet MS"/>
                <a:ea typeface="Arial"/>
                <a:cs typeface="Arial"/>
              </a:rPr>
              <a:t>1</a:t>
            </a:r>
            <a:r>
              <a:rPr lang="en-IN" sz="2400" b="1" i="0" u="none" strike="noStrike" baseline="0">
                <a:latin typeface="Trebuchet MS"/>
                <a:ea typeface="Arial"/>
                <a:cs typeface="Arial"/>
              </a:rPr>
              <a:t>). Array Traversal</a:t>
            </a:r>
            <a:r>
              <a:rPr lang="en-IN" sz="2400" b="1" i="0">
                <a:latin typeface="Trebuchet MS"/>
                <a:ea typeface="Arial"/>
                <a:cs typeface="Arial"/>
              </a:rPr>
              <a:t>​</a:t>
            </a:r>
          </a:p>
          <a:p>
            <a:pPr algn="l" rtl="0"/>
            <a:r>
              <a:rPr lang="en-US" sz="2400" b="1" i="0" u="none" strike="noStrike" baseline="0">
                <a:latin typeface="Trebuchet MS"/>
                <a:ea typeface="Arial"/>
                <a:cs typeface="Arial"/>
              </a:rPr>
              <a:t>Traversal = visiting each element in </a:t>
            </a:r>
            <a:r>
              <a:rPr lang="en-US" sz="2400" b="1" i="0" u="none" strike="noStrike" baseline="0" err="1">
                <a:latin typeface="Trebuchet MS"/>
                <a:ea typeface="Arial"/>
                <a:cs typeface="Arial"/>
              </a:rPr>
              <a:t>thearray</a:t>
            </a:r>
            <a:r>
              <a:rPr lang="en-US" sz="2400" b="1" i="0" u="none" strike="noStrike" baseline="0">
                <a:latin typeface="Trebuchet MS"/>
                <a:ea typeface="Arial"/>
                <a:cs typeface="Arial"/>
              </a:rPr>
              <a:t>.</a:t>
            </a:r>
            <a:r>
              <a:rPr lang="en-IN" sz="2400" b="1" i="0">
                <a:latin typeface="Trebuchet MS"/>
                <a:ea typeface="Arial"/>
                <a:cs typeface="Arial"/>
              </a:rPr>
              <a:t>​</a:t>
            </a:r>
          </a:p>
          <a:p>
            <a:pPr algn="l" rtl="0"/>
            <a:r>
              <a:rPr lang="en-US" sz="2400" b="1" i="0" u="none" strike="noStrike" baseline="0">
                <a:latin typeface="Trebuchet MS"/>
                <a:ea typeface="Arial"/>
                <a:cs typeface="Arial"/>
              </a:rPr>
              <a:t>Used to calculate total water </a:t>
            </a:r>
            <a:r>
              <a:rPr lang="en-US" sz="2400" b="1" i="0" u="none" strike="noStrike" baseline="0" err="1">
                <a:latin typeface="Trebuchet MS"/>
                <a:ea typeface="Arial"/>
                <a:cs typeface="Arial"/>
              </a:rPr>
              <a:t>usagefor</a:t>
            </a:r>
            <a:r>
              <a:rPr lang="en-US" sz="2400" b="1" i="0" u="none" strike="noStrike" baseline="0">
                <a:latin typeface="Trebuchet MS"/>
                <a:ea typeface="Arial"/>
                <a:cs typeface="Arial"/>
              </a:rPr>
              <a:t> a week/month.</a:t>
            </a:r>
            <a:r>
              <a:rPr lang="en-US" sz="2400" b="1" i="0">
                <a:latin typeface="Trebuchet MS"/>
                <a:ea typeface="Arial"/>
                <a:cs typeface="Arial"/>
              </a:rPr>
              <a:t>​</a:t>
            </a:r>
          </a:p>
          <a:p>
            <a:pPr algn="l" rtl="0"/>
            <a:r>
              <a:rPr lang="en-US" sz="2400" b="1" i="0">
                <a:latin typeface="Trebuchet MS"/>
                <a:ea typeface="Arial"/>
                <a:cs typeface="Arial"/>
              </a:rPr>
              <a:t>​</a:t>
            </a:r>
          </a:p>
          <a:p>
            <a:pPr algn="l" rtl="0"/>
            <a:r>
              <a:rPr lang="en-US" sz="2400" b="1" i="0" u="none" strike="noStrike" baseline="0">
                <a:latin typeface="Trebuchet MS"/>
                <a:ea typeface="Arial"/>
                <a:cs typeface="Arial"/>
              </a:rPr>
              <a:t>2). Searching</a:t>
            </a:r>
            <a:r>
              <a:rPr lang="en-US" sz="2400" b="1" i="0">
                <a:latin typeface="Trebuchet MS"/>
                <a:ea typeface="Arial"/>
                <a:cs typeface="Arial"/>
              </a:rPr>
              <a:t>​</a:t>
            </a:r>
          </a:p>
          <a:p>
            <a:pPr algn="l" rtl="0"/>
            <a:r>
              <a:rPr lang="en-US" sz="2400" b="1" i="0" u="none" strike="noStrike" baseline="0">
                <a:latin typeface="Trebuchet MS"/>
                <a:ea typeface="Arial"/>
                <a:cs typeface="Arial"/>
              </a:rPr>
              <a:t>Identifies wastage patterns </a:t>
            </a:r>
            <a:r>
              <a:rPr lang="en-US" sz="2400" b="1" i="0">
                <a:latin typeface="Trebuchet MS"/>
                <a:ea typeface="Arial"/>
                <a:cs typeface="Arial"/>
              </a:rPr>
              <a:t>​</a:t>
            </a:r>
          </a:p>
          <a:p>
            <a:pPr algn="l" rtl="0"/>
            <a:r>
              <a:rPr lang="en-US" sz="2400" b="1" i="0" u="none" strike="noStrike" baseline="0">
                <a:latin typeface="Trebuchet MS"/>
                <a:ea typeface="Arial"/>
                <a:cs typeface="Arial"/>
              </a:rPr>
              <a:t>Helps identify peak consumption days→ useful for awareness campaigns.</a:t>
            </a:r>
            <a:r>
              <a:rPr lang="en-US" sz="2400" b="1" i="0">
                <a:latin typeface="Trebuchet MS"/>
                <a:ea typeface="Arial"/>
                <a:cs typeface="Arial"/>
              </a:rPr>
              <a:t>​</a:t>
            </a:r>
          </a:p>
          <a:p>
            <a:pPr algn="l" rtl="0"/>
            <a:r>
              <a:rPr lang="en-US" sz="2400" b="1" i="0">
                <a:latin typeface="Trebuchet MS"/>
                <a:ea typeface="Arial"/>
                <a:cs typeface="Arial"/>
              </a:rPr>
              <a:t>​</a:t>
            </a:r>
          </a:p>
          <a:p>
            <a:pPr algn="l" rtl="0"/>
            <a:r>
              <a:rPr lang="en-IN" sz="2400" b="1" i="0" u="none" strike="noStrike" baseline="0">
                <a:latin typeface="Trebuchet MS"/>
                <a:ea typeface="Arial"/>
                <a:cs typeface="Arial"/>
              </a:rPr>
              <a:t>3). Matrix Representation</a:t>
            </a:r>
            <a:r>
              <a:rPr lang="en-IN" sz="2400" b="1" i="0">
                <a:latin typeface="Trebuchet MS"/>
                <a:ea typeface="Arial"/>
                <a:cs typeface="Arial"/>
              </a:rPr>
              <a:t>​</a:t>
            </a:r>
          </a:p>
          <a:p>
            <a:pPr algn="l" rtl="0"/>
            <a:r>
              <a:rPr lang="en-US" sz="2400" b="1" i="0" u="none" strike="noStrike" baseline="0">
                <a:latin typeface="Trebuchet MS"/>
                <a:ea typeface="Arial"/>
                <a:cs typeface="Arial"/>
              </a:rPr>
              <a:t>Organizes household vs. day usage </a:t>
            </a:r>
            <a:r>
              <a:rPr lang="en-US" sz="2400" b="1" i="0" u="none" strike="noStrike" baseline="0" err="1">
                <a:latin typeface="Trebuchet MS"/>
                <a:ea typeface="Arial"/>
                <a:cs typeface="Arial"/>
              </a:rPr>
              <a:t>formonitoring</a:t>
            </a:r>
            <a:r>
              <a:rPr lang="en-US" sz="2400" b="1" i="0">
                <a:latin typeface="Trebuchet MS"/>
                <a:ea typeface="Arial"/>
                <a:cs typeface="Arial"/>
              </a:rPr>
              <a:t>​</a:t>
            </a:r>
          </a:p>
          <a:p>
            <a:pPr algn="l" rtl="0"/>
            <a:r>
              <a:rPr lang="en-US" sz="2400" b="1" i="0" u="none" strike="noStrike" baseline="0">
                <a:latin typeface="Trebuchet MS"/>
                <a:ea typeface="Arial"/>
                <a:cs typeface="Arial"/>
              </a:rPr>
              <a:t>Organizes household vs. day usage </a:t>
            </a:r>
            <a:r>
              <a:rPr lang="en-US" sz="2400" b="1" i="0" u="none" strike="noStrike" baseline="0" err="1">
                <a:latin typeface="Trebuchet MS"/>
                <a:ea typeface="Arial"/>
                <a:cs typeface="Arial"/>
              </a:rPr>
              <a:t>formonitoring</a:t>
            </a:r>
            <a:r>
              <a:rPr lang="en-US" sz="2400" b="1" i="0">
                <a:latin typeface="Trebuchet M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endParaRPr lang="en-IN" b="1" i="0">
              <a:latin typeface="Arial"/>
              <a:ea typeface="Arial"/>
              <a:cs typeface="Arial"/>
            </a:endParaRPr>
          </a:p>
          <a:p>
            <a:pPr algn="ctr"/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2046900718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86E9B-1162-7F5E-D880-2998BD4CB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0445" y="1257868"/>
            <a:ext cx="3842233" cy="130152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400" b="1" u="sng"/>
              <a:t>Classes &amp; Objects</a:t>
            </a:r>
            <a:endParaRPr lang="en-US" sz="2400" u="sng"/>
          </a:p>
          <a:p>
            <a:pPr marL="342900" indent="-342900">
              <a:lnSpc>
                <a:spcPct val="90000"/>
              </a:lnSpc>
              <a:spcBef>
                <a:spcPts val="1000"/>
              </a:spcBef>
            </a:pPr>
            <a:r>
              <a:rPr lang="en-US" sz="2400"/>
              <a:t>Class = </a:t>
            </a:r>
            <a:r>
              <a:rPr lang="en-US" sz="2400" i="1"/>
              <a:t>Household</a:t>
            </a:r>
            <a:r>
              <a:rPr lang="en-US" sz="2400"/>
              <a:t>, Object = </a:t>
            </a:r>
            <a:r>
              <a:rPr lang="en-US" sz="2400" i="1"/>
              <a:t>specific family’s water data</a:t>
            </a:r>
            <a:r>
              <a:rPr lang="en-US" sz="2400"/>
              <a:t>.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</a:pPr>
            <a:r>
              <a:rPr lang="en-US" sz="2400"/>
              <a:t>Provides structure to store and manage usage/billing info.</a:t>
            </a:r>
          </a:p>
          <a:p>
            <a:pPr>
              <a:lnSpc>
                <a:spcPct val="90000"/>
              </a:lnSpc>
            </a:pPr>
            <a:endParaRPr lang="en-IN" sz="24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9A5CF5D-4008-6D9D-8012-E64987029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4410" y="3263782"/>
            <a:ext cx="4677843" cy="2970924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  <a:buFont typeface="Arial" charset="2"/>
              <a:buChar char="•"/>
            </a:pPr>
            <a:r>
              <a:rPr lang="en-IN" sz="2400" u="sng">
                <a:ea typeface="+mn-lt"/>
                <a:cs typeface="+mn-lt"/>
              </a:rPr>
              <a:t>Encapsulation</a:t>
            </a:r>
            <a:endParaRPr lang="en-IN" sz="2400" u="sng"/>
          </a:p>
          <a:p>
            <a:pPr marL="0" indent="0">
              <a:lnSpc>
                <a:spcPct val="90000"/>
              </a:lnSpc>
              <a:buNone/>
            </a:pPr>
            <a:r>
              <a:rPr lang="en-IN" sz="2400">
                <a:ea typeface="+mn-lt"/>
                <a:cs typeface="+mn-lt"/>
              </a:rPr>
              <a:t>Protects sensitive billing data (usage, charges).</a:t>
            </a:r>
            <a:endParaRPr lang="en-IN" sz="2400"/>
          </a:p>
          <a:p>
            <a:pPr marL="0" indent="0">
              <a:lnSpc>
                <a:spcPct val="90000"/>
              </a:lnSpc>
              <a:buNone/>
            </a:pPr>
            <a:r>
              <a:rPr lang="en-IN" sz="2400">
                <a:ea typeface="+mn-lt"/>
                <a:cs typeface="+mn-lt"/>
              </a:rPr>
              <a:t>Access only through controlled methods → ensures security</a:t>
            </a:r>
            <a:endParaRPr lang="en-IN" sz="2400"/>
          </a:p>
        </p:txBody>
      </p:sp>
      <p:pic>
        <p:nvPicPr>
          <p:cNvPr id="3" name="Picture 2" descr="This contains: Minimize The Water Wastage Using IoT Sensors">
            <a:extLst>
              <a:ext uri="{FF2B5EF4-FFF2-40B4-BE49-F238E27FC236}">
                <a16:creationId xmlns:a16="http://schemas.microsoft.com/office/drawing/2014/main" id="{E098DF6B-9CAB-EE71-E2F9-CB7024FEC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814" y="891686"/>
            <a:ext cx="5062993" cy="506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83852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942BE-C3E3-D0AE-AB2E-5474EF363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618" y="393510"/>
            <a:ext cx="8596668" cy="1320800"/>
          </a:xfrm>
        </p:spPr>
        <p:txBody>
          <a:bodyPr/>
          <a:lstStyle/>
          <a:p>
            <a:pPr marL="342900" indent="-342900">
              <a:spcBef>
                <a:spcPts val="1000"/>
              </a:spcBef>
            </a:pPr>
            <a:r>
              <a:rPr lang="en-IN" sz="4400">
                <a:solidFill>
                  <a:srgbClr val="404040"/>
                </a:solidFill>
              </a:rPr>
              <a:t>Methods</a:t>
            </a:r>
            <a:endParaRPr lang="en-IN" sz="4400">
              <a:solidFill>
                <a:srgbClr val="000000"/>
              </a:solidFill>
            </a:endParaRPr>
          </a:p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A9438-088D-4E97-ED2B-3F408FD9D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618" y="1489574"/>
            <a:ext cx="7527594" cy="4290205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Arial" charset="2"/>
              <a:buChar char="•"/>
            </a:pPr>
            <a:endParaRPr lang="en-IN"/>
          </a:p>
          <a:p>
            <a:pPr>
              <a:buFont typeface="Arial" charset="2"/>
              <a:buChar char="•"/>
            </a:pPr>
            <a:r>
              <a:rPr lang="en-IN" sz="2000">
                <a:ea typeface="+mn-lt"/>
                <a:cs typeface="+mn-lt"/>
              </a:rPr>
              <a:t>Functions like </a:t>
            </a:r>
            <a:r>
              <a:rPr lang="en-IN" sz="2000" err="1">
                <a:ea typeface="+mn-lt"/>
                <a:cs typeface="+mn-lt"/>
              </a:rPr>
              <a:t>calculateBill</a:t>
            </a:r>
            <a:r>
              <a:rPr lang="en-IN" sz="2000">
                <a:ea typeface="+mn-lt"/>
                <a:cs typeface="+mn-lt"/>
              </a:rPr>
              <a:t>() or </a:t>
            </a:r>
            <a:r>
              <a:rPr lang="en-IN" sz="2000" err="1">
                <a:ea typeface="+mn-lt"/>
                <a:cs typeface="+mn-lt"/>
              </a:rPr>
              <a:t>findPeakUsage</a:t>
            </a:r>
            <a:r>
              <a:rPr lang="en-IN" sz="2000">
                <a:ea typeface="+mn-lt"/>
                <a:cs typeface="+mn-lt"/>
              </a:rPr>
              <a:t>().</a:t>
            </a:r>
            <a:endParaRPr lang="en-IN" sz="2000"/>
          </a:p>
          <a:p>
            <a:pPr>
              <a:buFont typeface="Arial" charset="2"/>
              <a:buChar char="•"/>
            </a:pPr>
            <a:endParaRPr lang="en-IN" sz="2000"/>
          </a:p>
          <a:p>
            <a:pPr>
              <a:buFont typeface="Arial" charset="2"/>
              <a:buChar char="•"/>
            </a:pPr>
            <a:r>
              <a:rPr lang="en-IN" sz="2000">
                <a:ea typeface="+mn-lt"/>
                <a:cs typeface="+mn-lt"/>
              </a:rPr>
              <a:t>Automates billing and analysis of consumption patterns.</a:t>
            </a:r>
            <a:endParaRPr lang="en-IN" sz="2000"/>
          </a:p>
          <a:p>
            <a:pPr>
              <a:buFont typeface="Arial" charset="2"/>
              <a:buChar char="•"/>
            </a:pPr>
            <a:endParaRPr lang="en-IN" sz="2000"/>
          </a:p>
          <a:p>
            <a:pPr>
              <a:buFont typeface="Arial" charset="2"/>
              <a:buChar char="•"/>
            </a:pPr>
            <a:r>
              <a:rPr lang="en-IN" sz="2000">
                <a:ea typeface="+mn-lt"/>
                <a:cs typeface="+mn-lt"/>
              </a:rPr>
              <a:t>Encapsulation</a:t>
            </a:r>
            <a:endParaRPr lang="en-IN" sz="2000"/>
          </a:p>
          <a:p>
            <a:pPr>
              <a:buFont typeface="Arial" charset="2"/>
              <a:buChar char="•"/>
            </a:pPr>
            <a:endParaRPr lang="en-IN" sz="2000"/>
          </a:p>
          <a:p>
            <a:pPr>
              <a:buFont typeface="Arial" charset="2"/>
              <a:buChar char="•"/>
            </a:pPr>
            <a:r>
              <a:rPr lang="en-IN" sz="2000">
                <a:ea typeface="+mn-lt"/>
                <a:cs typeface="+mn-lt"/>
              </a:rPr>
              <a:t>Protects sensitive billing data (usage, charges).</a:t>
            </a:r>
            <a:endParaRPr lang="en-IN" sz="2000"/>
          </a:p>
          <a:p>
            <a:pPr>
              <a:buFont typeface="Arial" charset="2"/>
              <a:buChar char="•"/>
            </a:pPr>
            <a:endParaRPr lang="en-IN" sz="2000"/>
          </a:p>
          <a:p>
            <a:pPr>
              <a:buFont typeface="Arial" charset="2"/>
              <a:buChar char="•"/>
            </a:pPr>
            <a:r>
              <a:rPr lang="en-IN" sz="2000">
                <a:ea typeface="+mn-lt"/>
                <a:cs typeface="+mn-lt"/>
              </a:rPr>
              <a:t>Access only through controlled methods → ensures security.</a:t>
            </a:r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1657695760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54F0F-1565-5B92-51C2-E3F9D8FDC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140" y="257033"/>
            <a:ext cx="8596668" cy="1320800"/>
          </a:xfrm>
        </p:spPr>
        <p:txBody>
          <a:bodyPr/>
          <a:lstStyle/>
          <a:p>
            <a:pPr marL="342900" indent="-342900">
              <a:spcBef>
                <a:spcPts val="1000"/>
              </a:spcBef>
            </a:pPr>
            <a:r>
              <a:rPr lang="en-US" sz="4000">
                <a:solidFill>
                  <a:srgbClr val="404040"/>
                </a:solidFill>
              </a:rPr>
              <a:t>*Inheritance</a:t>
            </a:r>
            <a:endParaRPr lang="en-US" sz="4000">
              <a:solidFill>
                <a:srgbClr val="000000"/>
              </a:solidFill>
            </a:endParaRPr>
          </a:p>
          <a:p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E9D56-F297-B486-5B4B-CFC67B3BA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140" y="261276"/>
            <a:ext cx="11519563" cy="631462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br>
              <a:rPr lang="en-US" dirty="0"/>
            </a:br>
            <a:endParaRPr lang="en-US"/>
          </a:p>
          <a:p>
            <a:pPr>
              <a:buFont typeface="Arial" charset="2"/>
              <a:buChar char="•"/>
            </a:pPr>
            <a:r>
              <a:rPr lang="en-US" sz="2400" dirty="0">
                <a:ea typeface="+mn-lt"/>
                <a:cs typeface="+mn-lt"/>
              </a:rPr>
              <a:t>Reuse code: e.g., </a:t>
            </a:r>
            <a:r>
              <a:rPr lang="en-US" sz="2400" dirty="0" err="1">
                <a:ea typeface="+mn-lt"/>
                <a:cs typeface="+mn-lt"/>
              </a:rPr>
              <a:t>ResidentialHousehold</a:t>
            </a:r>
            <a:r>
              <a:rPr lang="en-US" sz="2400" dirty="0">
                <a:ea typeface="+mn-lt"/>
                <a:cs typeface="+mn-lt"/>
              </a:rPr>
              <a:t> inherits from Household</a:t>
            </a:r>
            <a:endParaRPr lang="en-US" sz="2400" dirty="0"/>
          </a:p>
          <a:p>
            <a:pPr>
              <a:buFont typeface="Arial" charset="2"/>
              <a:buChar char="•"/>
            </a:pPr>
            <a:r>
              <a:rPr lang="en-US" sz="2400">
                <a:ea typeface="+mn-lt"/>
                <a:cs typeface="+mn-lt"/>
              </a:rPr>
              <a:t>Allows specialized billing rules (e.g., apartments vs. villas).</a:t>
            </a:r>
            <a:endParaRPr lang="en-US" sz="4000">
              <a:ea typeface="+mn-lt"/>
              <a:cs typeface="+mn-lt"/>
            </a:endParaRPr>
          </a:p>
          <a:p>
            <a:pPr>
              <a:buFont typeface="Arial" charset="2"/>
              <a:buChar char="•"/>
            </a:pPr>
            <a:r>
              <a:rPr lang="en-US" sz="4000">
                <a:ea typeface="+mn-lt"/>
                <a:cs typeface="+mn-lt"/>
              </a:rPr>
              <a:t> *Polymorphism</a:t>
            </a:r>
            <a:endParaRPr lang="en-US" sz="4000"/>
          </a:p>
          <a:p>
            <a:pPr>
              <a:buFont typeface="Arial" charset="2"/>
              <a:buChar char="•"/>
            </a:pPr>
            <a:r>
              <a:rPr lang="en-US" sz="2400" dirty="0">
                <a:ea typeface="+mn-lt"/>
                <a:cs typeface="+mn-lt"/>
              </a:rPr>
              <a:t>Same method, different behavior: </a:t>
            </a:r>
            <a:r>
              <a:rPr lang="en-US" sz="2400" dirty="0" err="1">
                <a:ea typeface="+mn-lt"/>
                <a:cs typeface="+mn-lt"/>
              </a:rPr>
              <a:t>calculateBill</a:t>
            </a:r>
            <a:r>
              <a:rPr lang="en-US" sz="2400" dirty="0">
                <a:ea typeface="+mn-lt"/>
                <a:cs typeface="+mn-lt"/>
              </a:rPr>
              <a:t>() works differently for Residential vs. Commercial.</a:t>
            </a:r>
            <a:endParaRPr lang="en-US" sz="2400" dirty="0"/>
          </a:p>
          <a:p>
            <a:pPr>
              <a:buFont typeface="Arial" charset="2"/>
              <a:buChar char="•"/>
            </a:pPr>
            <a:r>
              <a:rPr lang="en-US" sz="2400">
                <a:ea typeface="+mn-lt"/>
                <a:cs typeface="+mn-lt"/>
              </a:rPr>
              <a:t>Supports flexible billing models.</a:t>
            </a:r>
            <a:endParaRPr lang="en-US" sz="2400"/>
          </a:p>
          <a:p>
            <a:pPr>
              <a:buFont typeface="Arial" charset="2"/>
              <a:buChar char="•"/>
            </a:pPr>
            <a:r>
              <a:rPr lang="en-US" sz="4000">
                <a:ea typeface="+mn-lt"/>
                <a:cs typeface="+mn-lt"/>
              </a:rPr>
              <a:t>*Interfaces</a:t>
            </a:r>
            <a:endParaRPr lang="en-US" sz="4000"/>
          </a:p>
          <a:p>
            <a:pPr>
              <a:buFont typeface="Arial" charset="2"/>
              <a:buChar char="•"/>
            </a:pPr>
            <a:r>
              <a:rPr lang="en-US" sz="2400" dirty="0">
                <a:ea typeface="+mn-lt"/>
                <a:cs typeface="+mn-lt"/>
              </a:rPr>
              <a:t>Standardize features: e.g., Billable interface ensures all classes provide </a:t>
            </a:r>
            <a:r>
              <a:rPr lang="en-US" sz="2400" dirty="0" err="1">
                <a:ea typeface="+mn-lt"/>
                <a:cs typeface="+mn-lt"/>
              </a:rPr>
              <a:t>generateBill</a:t>
            </a:r>
            <a:r>
              <a:rPr lang="en-US" sz="2400" dirty="0">
                <a:ea typeface="+mn-lt"/>
                <a:cs typeface="+mn-lt"/>
              </a:rPr>
              <a:t>().</a:t>
            </a:r>
            <a:endParaRPr lang="en-US" sz="2400" dirty="0"/>
          </a:p>
          <a:p>
            <a:pPr>
              <a:buFont typeface="Arial" charset="2"/>
              <a:buChar char="•"/>
            </a:pPr>
            <a:r>
              <a:rPr lang="en-US" sz="2400">
                <a:ea typeface="+mn-lt"/>
                <a:cs typeface="+mn-lt"/>
              </a:rPr>
              <a:t>Promotes consistency across modules.</a:t>
            </a:r>
            <a:endParaRPr lang="en-US" sz="2400"/>
          </a:p>
          <a:p>
            <a:pPr>
              <a:buFont typeface="Arial" charset="2"/>
              <a:buChar char="•"/>
            </a:pPr>
            <a:endParaRPr lang="en-US" sz="2400"/>
          </a:p>
          <a:p>
            <a:pPr>
              <a:buFont typeface="Arial" charset="2"/>
              <a:buChar char="•"/>
            </a:pPr>
            <a:endParaRPr lang="en-US"/>
          </a:p>
          <a:p>
            <a:pPr>
              <a:buFont typeface="Arial" charset="2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92009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24375-659F-8AE0-2996-EDDF9DBDB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164" y="192657"/>
            <a:ext cx="8596668" cy="616310"/>
          </a:xfrm>
        </p:spPr>
        <p:txBody>
          <a:bodyPr>
            <a:normAutofit fontScale="90000"/>
          </a:bodyPr>
          <a:lstStyle/>
          <a:p>
            <a:r>
              <a:rPr lang="en-US"/>
              <a:t>File Handling and Data Processing</a:t>
            </a:r>
          </a:p>
          <a:p>
            <a:pPr marL="342900" indent="-342900">
              <a:spcBef>
                <a:spcPts val="1000"/>
              </a:spcBef>
            </a:pPr>
            <a:endParaRPr lang="en-US" sz="4000">
              <a:solidFill>
                <a:srgbClr val="404040"/>
              </a:solidFill>
            </a:endParaRPr>
          </a:p>
          <a:p>
            <a:pPr marL="342900" indent="-342900">
              <a:spcBef>
                <a:spcPts val="1000"/>
              </a:spcBef>
            </a:pPr>
            <a:br>
              <a:rPr lang="en-US" sz="1800">
                <a:solidFill>
                  <a:srgbClr val="000000"/>
                </a:solidFill>
              </a:rPr>
            </a:br>
            <a:endParaRPr lang="en-US" sz="1800">
              <a:solidFill>
                <a:srgbClr val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8848A-5E03-E7BC-7904-AAC99CD7E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164" y="1024777"/>
            <a:ext cx="8596668" cy="5160358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>
              <a:buNone/>
            </a:pPr>
            <a:r>
              <a:rPr lang="en-US" sz="4000" dirty="0">
                <a:ea typeface="+mn-lt"/>
                <a:cs typeface="+mn-lt"/>
              </a:rPr>
              <a:t> 1).File I/O Streams</a:t>
            </a:r>
          </a:p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Read/write household water usage data from files</a:t>
            </a:r>
            <a:endParaRPr lang="en-US" dirty="0"/>
          </a:p>
          <a:p>
            <a:pPr>
              <a:buFont typeface="Arial" charset="2"/>
              <a:buChar char="•"/>
            </a:pPr>
            <a:r>
              <a:rPr lang="en-US" sz="2400" dirty="0">
                <a:ea typeface="+mn-lt"/>
                <a:cs typeface="+mn-lt"/>
              </a:rPr>
              <a:t>Enables storage of daily usage logs and billing records.</a:t>
            </a:r>
            <a:endParaRPr lang="en-US" sz="2400" dirty="0"/>
          </a:p>
          <a:p>
            <a:pPr marL="0" indent="0">
              <a:buNone/>
            </a:pPr>
            <a:r>
              <a:rPr lang="en-US" sz="4000" dirty="0">
                <a:ea typeface="+mn-lt"/>
                <a:cs typeface="+mn-lt"/>
              </a:rPr>
              <a:t>2). Collections Framework</a:t>
            </a:r>
            <a:endParaRPr lang="en-US" sz="4000" dirty="0"/>
          </a:p>
          <a:p>
            <a:pPr>
              <a:buFont typeface="Arial" charset="2"/>
              <a:buChar char="•"/>
            </a:pPr>
            <a:r>
              <a:rPr lang="en-US" sz="2400" dirty="0">
                <a:ea typeface="+mn-lt"/>
                <a:cs typeface="+mn-lt"/>
              </a:rPr>
              <a:t>Provides dynamic data structures (</a:t>
            </a:r>
            <a:r>
              <a:rPr lang="en-US" sz="2400" dirty="0" err="1">
                <a:ea typeface="+mn-lt"/>
                <a:cs typeface="+mn-lt"/>
              </a:rPr>
              <a:t>ArrayList</a:t>
            </a:r>
            <a:r>
              <a:rPr lang="en-US" sz="2400" dirty="0">
                <a:ea typeface="+mn-lt"/>
                <a:cs typeface="+mn-lt"/>
              </a:rPr>
              <a:t>, HashMap).</a:t>
            </a:r>
            <a:endParaRPr lang="en-US" sz="2400" dirty="0"/>
          </a:p>
          <a:p>
            <a:pPr>
              <a:buFont typeface="Arial" charset="2"/>
              <a:buChar char="•"/>
            </a:pPr>
            <a:r>
              <a:rPr lang="en-US" sz="2400" dirty="0">
                <a:ea typeface="+mn-lt"/>
                <a:cs typeface="+mn-lt"/>
              </a:rPr>
              <a:t>Useful for managing multiple households and their usage data.</a:t>
            </a:r>
            <a:endParaRPr lang="en-US" sz="2400" dirty="0"/>
          </a:p>
          <a:p>
            <a:pPr marL="0" indent="0">
              <a:buNone/>
            </a:pPr>
            <a:r>
              <a:rPr lang="en-US" sz="4000" dirty="0">
                <a:ea typeface="+mn-lt"/>
                <a:cs typeface="+mn-lt"/>
              </a:rPr>
              <a:t>3).Stream API</a:t>
            </a:r>
            <a:endParaRPr lang="en-US" sz="4000" dirty="0"/>
          </a:p>
          <a:p>
            <a:pPr>
              <a:buFont typeface="Arial" charset="2"/>
              <a:buChar char="•"/>
            </a:pPr>
            <a:r>
              <a:rPr lang="en-US" sz="2400" dirty="0">
                <a:ea typeface="+mn-lt"/>
                <a:cs typeface="+mn-lt"/>
              </a:rPr>
              <a:t>Process data in pipelines: filter, map, reduce.</a:t>
            </a:r>
            <a:endParaRPr lang="en-US" sz="2400" dirty="0"/>
          </a:p>
          <a:p>
            <a:pPr>
              <a:buFont typeface="Arial" charset="2"/>
              <a:buChar char="•"/>
            </a:pPr>
            <a:r>
              <a:rPr lang="en-US" sz="2400" dirty="0">
                <a:ea typeface="+mn-lt"/>
                <a:cs typeface="+mn-lt"/>
              </a:rPr>
              <a:t>Example: calculate total usage across all households in one line.</a:t>
            </a:r>
            <a:endParaRPr lang="en-US" sz="2400" dirty="0"/>
          </a:p>
          <a:p>
            <a:pPr>
              <a:buFont typeface="Arial" charset="2"/>
              <a:buChar char="•"/>
            </a:pPr>
            <a:endParaRPr lang="en-US" sz="2400" dirty="0"/>
          </a:p>
          <a:p>
            <a:pPr>
              <a:buFont typeface="Arial" charset="2"/>
              <a:buChar char="•"/>
            </a:pPr>
            <a:endParaRPr lang="en-US" dirty="0"/>
          </a:p>
          <a:p>
            <a:pPr>
              <a:buFont typeface="Arial" charset="2"/>
              <a:buChar char="•"/>
            </a:pPr>
            <a:endParaRPr lang="en-US" dirty="0"/>
          </a:p>
          <a:p>
            <a:pPr>
              <a:buFont typeface="Arial" charset="2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828492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F2705-4D3C-5BE5-AF40-A7E6456EE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498" y="461750"/>
            <a:ext cx="8596668" cy="899995"/>
          </a:xfrm>
        </p:spPr>
        <p:txBody>
          <a:bodyPr/>
          <a:lstStyle/>
          <a:p>
            <a:r>
              <a:rPr lang="en-US"/>
              <a:t>Generics and Collections in Java </a:t>
            </a:r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A7D21-98F5-CA54-5875-F9CE39A18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602" y="1489575"/>
            <a:ext cx="8596668" cy="388077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Font typeface="Arial" charset="2"/>
              <a:buChar char="•"/>
            </a:pPr>
            <a:r>
              <a:rPr lang="en-US" sz="3600" b="1">
                <a:ea typeface="+mn-lt"/>
                <a:cs typeface="+mn-lt"/>
              </a:rPr>
              <a:t>Generics</a:t>
            </a:r>
            <a:endParaRPr lang="en-US" sz="3600"/>
          </a:p>
          <a:p>
            <a:pPr>
              <a:buFont typeface="Arial" charset="2"/>
              <a:buChar char="•"/>
            </a:pPr>
            <a:r>
              <a:rPr lang="en-US" sz="2400" dirty="0">
                <a:ea typeface="+mn-lt"/>
                <a:cs typeface="+mn-lt"/>
              </a:rPr>
              <a:t>Enable reusable classes to handle different data types, e.g., </a:t>
            </a:r>
            <a:r>
              <a:rPr lang="en-US" sz="2400" dirty="0" err="1">
                <a:latin typeface="Consolas"/>
              </a:rPr>
              <a:t>WaterUsage</a:t>
            </a:r>
            <a:r>
              <a:rPr lang="en-US" sz="2400" dirty="0">
                <a:latin typeface="Consolas"/>
              </a:rPr>
              <a:t>&lt;T&gt;</a:t>
            </a:r>
            <a:r>
              <a:rPr lang="en-US" sz="2400" dirty="0">
                <a:ea typeface="+mn-lt"/>
                <a:cs typeface="+mn-lt"/>
              </a:rPr>
              <a:t>.</a:t>
            </a:r>
            <a:endParaRPr lang="en-US" sz="2400" dirty="0"/>
          </a:p>
          <a:p>
            <a:pPr>
              <a:buFont typeface="Arial" charset="2"/>
              <a:buChar char="•"/>
            </a:pPr>
            <a:r>
              <a:rPr lang="en-US" sz="2400">
                <a:ea typeface="+mn-lt"/>
                <a:cs typeface="+mn-lt"/>
              </a:rPr>
              <a:t>Improves type safety in household water monitoring.</a:t>
            </a:r>
            <a:endParaRPr lang="en-US" sz="2400"/>
          </a:p>
          <a:p>
            <a:pPr>
              <a:buFont typeface="Arial" charset="2"/>
              <a:buChar char="•"/>
            </a:pPr>
            <a:r>
              <a:rPr lang="en-US" sz="3600" b="1">
                <a:ea typeface="+mn-lt"/>
                <a:cs typeface="+mn-lt"/>
              </a:rPr>
              <a:t>Bounded Type Parameters</a:t>
            </a:r>
            <a:endParaRPr lang="en-US" sz="3600"/>
          </a:p>
          <a:p>
            <a:pPr>
              <a:buFont typeface="Arial" charset="2"/>
              <a:buChar char="•"/>
            </a:pPr>
            <a:r>
              <a:rPr lang="en-US" sz="2400">
                <a:ea typeface="+mn-lt"/>
                <a:cs typeface="+mn-lt"/>
              </a:rPr>
              <a:t>Restrict generic types using </a:t>
            </a:r>
            <a:r>
              <a:rPr lang="en-US" sz="2400">
                <a:latin typeface="Consolas"/>
              </a:rPr>
              <a:t>T extends Number</a:t>
            </a:r>
            <a:r>
              <a:rPr lang="en-US" sz="2400">
                <a:ea typeface="+mn-lt"/>
                <a:cs typeface="+mn-lt"/>
              </a:rPr>
              <a:t>.</a:t>
            </a:r>
            <a:endParaRPr lang="en-US" sz="2400" b="1"/>
          </a:p>
          <a:p>
            <a:pPr>
              <a:buFont typeface="Arial" charset="2"/>
              <a:buChar char="•"/>
            </a:pPr>
            <a:r>
              <a:rPr lang="en-US" sz="2400">
                <a:ea typeface="+mn-lt"/>
                <a:cs typeface="+mn-lt"/>
              </a:rPr>
              <a:t>Ensures water usage values are numeric for bill calculations.</a:t>
            </a:r>
            <a:endParaRPr lang="en-US" sz="2400"/>
          </a:p>
          <a:p>
            <a:pPr>
              <a:buFont typeface="Arial" charset="2"/>
              <a:buChar char="•"/>
            </a:pPr>
            <a:endParaRPr lang="en-US" sz="3600" b="1"/>
          </a:p>
          <a:p>
            <a:pPr>
              <a:buFont typeface="Arial" charset="2"/>
              <a:buChar char="•"/>
            </a:pP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2099577364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46CBCF-DE56-E3E0-9E3F-8DE06A2E3FCD}"/>
              </a:ext>
            </a:extLst>
          </p:cNvPr>
          <p:cNvSpPr txBox="1"/>
          <p:nvPr/>
        </p:nvSpPr>
        <p:spPr>
          <a:xfrm>
            <a:off x="258791" y="265980"/>
            <a:ext cx="9489056" cy="61863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/>
              <a:t>Multiple Parameters</a:t>
            </a:r>
          </a:p>
          <a:p>
            <a:pPr marL="228600" indent="-228600">
              <a:buFont typeface=""/>
              <a:buChar char="•"/>
            </a:pPr>
            <a:r>
              <a:rPr lang="en-US" sz="2400"/>
              <a:t>Use multiple type parameters, e.g., </a:t>
            </a:r>
            <a:r>
              <a:rPr lang="en-US" sz="2400" err="1"/>
              <a:t>WaterUsage</a:t>
            </a:r>
            <a:r>
              <a:rPr lang="en-US" sz="2400"/>
              <a:t>&lt;Integer, Double&gt;.</a:t>
            </a:r>
          </a:p>
          <a:p>
            <a:pPr marL="228600" indent="-228600">
              <a:buFont typeface=""/>
              <a:buChar char="•"/>
            </a:pPr>
            <a:r>
              <a:rPr lang="en-US" sz="2400"/>
              <a:t>Stores house numbers and water consumption values.</a:t>
            </a:r>
          </a:p>
          <a:p>
            <a:r>
              <a:rPr lang="en-US" sz="3600" b="1"/>
              <a:t>Wrapper Classes</a:t>
            </a:r>
          </a:p>
          <a:p>
            <a:pPr marL="228600" indent="-228600">
              <a:buFont typeface=""/>
              <a:buChar char="•"/>
            </a:pPr>
            <a:r>
              <a:rPr lang="en-US" sz="2400"/>
              <a:t>Use Integer and Double to represent primitive values as objects.</a:t>
            </a:r>
          </a:p>
          <a:p>
            <a:pPr marL="228600" indent="-228600">
              <a:buFont typeface=""/>
              <a:buChar char="•"/>
            </a:pPr>
            <a:r>
              <a:rPr lang="en-US" sz="2400"/>
              <a:t>Helps store water readings in collections.</a:t>
            </a:r>
          </a:p>
          <a:p>
            <a:r>
              <a:rPr lang="en-US" sz="3600" b="1"/>
              <a:t>Autoboxing and Unboxing</a:t>
            </a:r>
          </a:p>
          <a:p>
            <a:pPr marL="228600" indent="-228600">
              <a:buFont typeface=""/>
              <a:buChar char="•"/>
            </a:pPr>
            <a:r>
              <a:rPr lang="en-US" sz="2400"/>
              <a:t>Automatically converts primitive values to wrapper objects and back.</a:t>
            </a:r>
          </a:p>
          <a:p>
            <a:pPr marL="228600" indent="-228600">
              <a:buFont typeface=""/>
              <a:buChar char="•"/>
            </a:pPr>
            <a:r>
              <a:rPr lang="en-US" sz="2400"/>
              <a:t>Simplifies handling of household water usage data.</a:t>
            </a:r>
          </a:p>
          <a:p>
            <a:r>
              <a:rPr lang="en-US" sz="2400" b="1"/>
              <a:t>Collections Framework</a:t>
            </a:r>
          </a:p>
          <a:p>
            <a:pPr marL="228600" indent="-228600">
              <a:buFont typeface=""/>
              <a:buChar char="•"/>
            </a:pPr>
            <a:r>
              <a:rPr lang="en-US" sz="2400"/>
              <a:t>Uses </a:t>
            </a:r>
            <a:r>
              <a:rPr lang="en-US" sz="2400" err="1"/>
              <a:t>ArrayList</a:t>
            </a:r>
            <a:r>
              <a:rPr lang="en-US" sz="2400"/>
              <a:t>&lt;Double&gt; to store multiple water readings.</a:t>
            </a:r>
          </a:p>
          <a:p>
            <a:pPr marL="228600" indent="-228600">
              <a:buFont typeface=""/>
              <a:buChar char="•"/>
            </a:pPr>
            <a:r>
              <a:rPr lang="en-US" sz="2400"/>
              <a:t>Helps track consumption and identify high water usage.</a:t>
            </a:r>
          </a:p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934758541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is contains: Water Saving Tips For Housing Societies | Waltr Your Water Manager">
            <a:extLst>
              <a:ext uri="{FF2B5EF4-FFF2-40B4-BE49-F238E27FC236}">
                <a16:creationId xmlns:a16="http://schemas.microsoft.com/office/drawing/2014/main" id="{FA36B980-FE1A-52C6-7566-5D5C8E0A2A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433" r="-2" b="-2"/>
          <a:stretch>
            <a:fillRect/>
          </a:stretch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BAF33F-6708-08F4-D80D-391431C71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124" y="200167"/>
            <a:ext cx="3851123" cy="1320800"/>
          </a:xfrm>
        </p:spPr>
        <p:txBody>
          <a:bodyPr>
            <a:normAutofit/>
          </a:bodyPr>
          <a:lstStyle/>
          <a:p>
            <a:r>
              <a:rPr lang="en-US"/>
              <a:t>Conclusion</a:t>
            </a:r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963DD-2919-A195-89E4-6C3A1BFF6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9" y="864053"/>
            <a:ext cx="5102167" cy="5529876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  <a:buFont typeface="Arial" charset="2"/>
              <a:buChar char="•"/>
            </a:pPr>
            <a:endParaRPr lang="en-US" sz="1500"/>
          </a:p>
          <a:p>
            <a:pPr>
              <a:lnSpc>
                <a:spcPct val="90000"/>
              </a:lnSpc>
              <a:buFont typeface="Arial" charset="2"/>
              <a:buChar char="•"/>
            </a:pPr>
            <a:r>
              <a:rPr lang="en-US" sz="2400">
                <a:ea typeface="+mn-lt"/>
                <a:cs typeface="+mn-lt"/>
              </a:rPr>
              <a:t>Monitors household water usage and calculates water bills.</a:t>
            </a:r>
            <a:endParaRPr lang="en-US" sz="2400"/>
          </a:p>
          <a:p>
            <a:pPr>
              <a:lnSpc>
                <a:spcPct val="90000"/>
              </a:lnSpc>
              <a:buFont typeface="Arial" charset="2"/>
              <a:buChar char="•"/>
            </a:pPr>
            <a:r>
              <a:rPr lang="en-US" sz="2400">
                <a:ea typeface="+mn-lt"/>
                <a:cs typeface="+mn-lt"/>
              </a:rPr>
              <a:t>Uses Java Generics, Wrapper Classes, and Collections for efficient data management.</a:t>
            </a:r>
            <a:endParaRPr lang="en-US" sz="2400"/>
          </a:p>
          <a:p>
            <a:pPr>
              <a:lnSpc>
                <a:spcPct val="90000"/>
              </a:lnSpc>
              <a:buFont typeface="Arial" charset="2"/>
              <a:buChar char="•"/>
            </a:pPr>
            <a:r>
              <a:rPr lang="en-US" sz="2400">
                <a:ea typeface="+mn-lt"/>
                <a:cs typeface="+mn-lt"/>
              </a:rPr>
              <a:t>Applies bounded type parameters, autoboxing, and unboxing to process water readings.</a:t>
            </a:r>
            <a:endParaRPr lang="en-US" sz="2400"/>
          </a:p>
          <a:p>
            <a:pPr>
              <a:lnSpc>
                <a:spcPct val="90000"/>
              </a:lnSpc>
              <a:buFont typeface="Arial" charset="2"/>
              <a:buChar char="•"/>
            </a:pPr>
            <a:r>
              <a:rPr lang="en-US" sz="2400">
                <a:ea typeface="+mn-lt"/>
                <a:cs typeface="+mn-lt"/>
              </a:rPr>
              <a:t>Identifies excessive water consumption and encourages responsible water usage.</a:t>
            </a:r>
            <a:endParaRPr lang="en-US" sz="2400"/>
          </a:p>
          <a:p>
            <a:pPr>
              <a:lnSpc>
                <a:spcPct val="90000"/>
              </a:lnSpc>
              <a:buFont typeface="Arial" charset="2"/>
              <a:buChar char="•"/>
            </a:pPr>
            <a:r>
              <a:rPr lang="en-US" sz="2400">
                <a:ea typeface="+mn-lt"/>
                <a:cs typeface="+mn-lt"/>
              </a:rPr>
              <a:t>Promotes sustainability through efficient water monitoring and conservation.</a:t>
            </a:r>
            <a:endParaRPr lang="en-US" sz="2400"/>
          </a:p>
          <a:p>
            <a:pPr>
              <a:lnSpc>
                <a:spcPct val="90000"/>
              </a:lnSpc>
              <a:buFont typeface="Arial" charset="2"/>
              <a:buChar char="•"/>
            </a:pPr>
            <a:endParaRPr lang="en-US" sz="15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22158866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707</Words>
  <Application>Microsoft Office PowerPoint</Application>
  <PresentationFormat>Widescreen</PresentationFormat>
  <Paragraphs>104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Facet</vt:lpstr>
      <vt:lpstr>SUSTAINABILITY : HOUSEHOLD WATER -  USAGE AND BILLING MONITOR</vt:lpstr>
      <vt:lpstr>ABSTRACT</vt:lpstr>
      <vt:lpstr>Problem Statement</vt:lpstr>
      <vt:lpstr>PowerPoint Presentation</vt:lpstr>
      <vt:lpstr>PowerPoint Presentation</vt:lpstr>
      <vt:lpstr>Classes &amp; Objects Class = Household, Object = specific family’s water data. Provides structure to store and manage usage/billing info. </vt:lpstr>
      <vt:lpstr>Methods </vt:lpstr>
      <vt:lpstr>*Inheritance </vt:lpstr>
      <vt:lpstr>File Handling and Data Processing   </vt:lpstr>
      <vt:lpstr>Generics and Collections in Java  </vt:lpstr>
      <vt:lpstr>PowerPoint Presentation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Jashwitha Reddy</dc:creator>
  <cp:lastModifiedBy>Jashwitha Reddy</cp:lastModifiedBy>
  <cp:revision>79</cp:revision>
  <dcterms:created xsi:type="dcterms:W3CDTF">2026-10-15T12:52:08Z</dcterms:created>
  <dcterms:modified xsi:type="dcterms:W3CDTF">2026-10-16T03:40:29Z</dcterms:modified>
</cp:coreProperties>
</file>